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76B900"/>
            </a:solidFill>
          </c:spPr>
          <c:cat>
            <c:strRef>
              <c:f>Sheet1!$A$2:$A$3</c:f>
              <c:strCache>
                <c:ptCount val="2"/>
                <c:pt idx="0">
                  <c:v>Regression (5M steps)</c:v>
                </c:pt>
                <c:pt idx="1">
                  <c:v>Diffusion (5M steps)</c:v>
                </c:pt>
              </c:strCache>
            </c:strRef>
          </c:cat>
          <c:val>
            <c:numRef>
              <c:f>Sheet1!$B$2:$B$3</c:f>
              <c:numCache>
                <c:formatCode>General</c:formatCode>
                <c:ptCount val="2"/>
                <c:pt idx="0">
                  <c:v>318.6</c:v>
                </c:pt>
                <c:pt idx="1">
                  <c:v>476.1</c:v>
                </c:pt>
              </c:numCache>
            </c:numRef>
          </c:val>
        </c:ser>
        <c:dLbls>
          <c:numFmt formatCode="0" sourceLinked="0"/>
          <c:txPr>
            <a:bodyPr/>
            <a:lstStyle/>
            <a:p>
              <a:pPr>
                <a:defRPr sz="1400">
                  <a:solidFill>
                    <a:srgbClr val="11141A"/>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8DCE2"/>
            </a:solidFill>
          </a:ln>
        </c:spPr>
        <c:txPr>
          <a:bodyPr/>
          <a:lstStyle/>
          <a:p>
            <a:pPr>
              <a:defRPr sz="1300">
                <a:solidFill>
                  <a:srgbClr val="3A414A"/>
                </a:solidFill>
              </a:defRPr>
            </a:pPr>
          </a:p>
        </c:txPr>
        <c:crossAx val="-2113994440"/>
        <c:crosses val="autoZero"/>
        <c:auto val="1"/>
        <c:lblAlgn val="ctr"/>
        <c:lblOffset val="100"/>
        <c:noMultiLvlLbl val="0"/>
      </c:catAx>
      <c:valAx>
        <c:axId val="-2113994440"/>
        <c:scaling/>
        <c:delete val="0"/>
        <c:axPos val="l"/>
        <c:majorGridlines>
          <c:spPr>
            <a:ln>
              <a:solidFill>
                <a:srgbClr val="D8DCE2"/>
              </a:solidFill>
            </a:ln>
          </c:spPr>
        </c:majorGridlines>
        <c:title>
          <c:tx>
            <c:rich>
              <a:bodyPr/>
              <a:lstStyle/>
              <a:p>
                <a:pPr>
                  <a:defRPr sz="1200">
                    <a:solidFill>
                      <a:srgbClr val="3A414A"/>
                    </a:solidFill>
                  </a:defRPr>
                </a:pPr>
                <a:r>
                  <a:t>GPU-hours</a:t>
                </a:r>
              </a:p>
            </c:rich>
          </c:tx>
          <c:layout/>
          <c:overlay val="0"/>
        </c:title>
        <c:majorTickMark val="out"/>
        <c:minorTickMark val="none"/>
        <c:tickLblPos val="nextTo"/>
        <c:spPr>
          <a:ln>
            <a:solidFill>
              <a:srgbClr val="D8DCE2"/>
            </a:solidFill>
          </a:ln>
        </c:spPr>
        <c:txPr>
          <a:bodyPr/>
          <a:lstStyle/>
          <a:p>
            <a:pPr>
              <a:defRPr sz="1200">
                <a:solidFill>
                  <a:srgbClr val="3A414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2A9D8F"/>
            </a:solidFill>
          </c:spPr>
          <c:cat>
            <c:strRef>
              <c:f>Sheet1!$A$2:$A$4</c:f>
              <c:strCache>
                <c:ptCount val="3"/>
                <c:pt idx="0">
                  <c:v>DRN</c:v>
                </c:pt>
                <c:pt idx="1">
                  <c:v>VAE</c:v>
                </c:pt>
                <c:pt idx="2">
                  <c:v>Diffusion (epoch 106/300)</c:v>
                </c:pt>
              </c:strCache>
            </c:strRef>
          </c:cat>
          <c:val>
            <c:numRef>
              <c:f>Sheet1!$B$2:$B$4</c:f>
              <c:numCache>
                <c:formatCode>General</c:formatCode>
                <c:ptCount val="3"/>
                <c:pt idx="0">
                  <c:v>326</c:v>
                </c:pt>
                <c:pt idx="1">
                  <c:v>149</c:v>
                </c:pt>
                <c:pt idx="2">
                  <c:v>582</c:v>
                </c:pt>
              </c:numCache>
            </c:numRef>
          </c:val>
        </c:ser>
        <c:dLbls>
          <c:numFmt formatCode="0" sourceLinked="0"/>
          <c:txPr>
            <a:bodyPr/>
            <a:lstStyle/>
            <a:p>
              <a:pPr>
                <a:defRPr sz="1400">
                  <a:solidFill>
                    <a:srgbClr val="11141A"/>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8DCE2"/>
            </a:solidFill>
          </a:ln>
        </c:spPr>
        <c:txPr>
          <a:bodyPr/>
          <a:lstStyle/>
          <a:p>
            <a:pPr>
              <a:defRPr sz="1300">
                <a:solidFill>
                  <a:srgbClr val="3A414A"/>
                </a:solidFill>
              </a:defRPr>
            </a:pPr>
          </a:p>
        </c:txPr>
        <c:crossAx val="-2113994440"/>
        <c:crosses val="autoZero"/>
        <c:auto val="1"/>
        <c:lblAlgn val="ctr"/>
        <c:lblOffset val="100"/>
        <c:noMultiLvlLbl val="0"/>
      </c:catAx>
      <c:valAx>
        <c:axId val="-2113994440"/>
        <c:scaling/>
        <c:delete val="0"/>
        <c:axPos val="l"/>
        <c:majorGridlines>
          <c:spPr>
            <a:ln>
              <a:solidFill>
                <a:srgbClr val="D8DCE2"/>
              </a:solidFill>
            </a:ln>
          </c:spPr>
        </c:majorGridlines>
        <c:title>
          <c:tx>
            <c:rich>
              <a:bodyPr/>
              <a:lstStyle/>
              <a:p>
                <a:pPr>
                  <a:defRPr sz="1200">
                    <a:solidFill>
                      <a:srgbClr val="3A414A"/>
                    </a:solidFill>
                  </a:defRPr>
                </a:pPr>
                <a:r>
                  <a:t>GPU-hours</a:t>
                </a:r>
              </a:p>
            </c:rich>
          </c:tx>
          <c:layout/>
          <c:overlay val="0"/>
        </c:title>
        <c:majorTickMark val="out"/>
        <c:minorTickMark val="none"/>
        <c:tickLblPos val="nextTo"/>
        <c:spPr>
          <a:ln>
            <a:solidFill>
              <a:srgbClr val="D8DCE2"/>
            </a:solidFill>
          </a:ln>
        </c:spPr>
        <c:txPr>
          <a:bodyPr/>
          <a:lstStyle/>
          <a:p>
            <a:pPr>
              <a:defRPr sz="1200">
                <a:solidFill>
                  <a:srgbClr val="3A414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assembled from the corrdiff-r2d2 benchmark branch. Three threads: (1) a T2 frequency-domain follow-up to the main event-based spectra figure, (2) the official CorrDiff (physicsnemo) accuracy/training-time comparison against our latent model, plus date-matched side-by-side output panels, (3) the Anderson Creek Fire (2016) case study -- kept separate from the headline 10-event, test-year (2018-2020) scorecard since 2016 is a validation year, not a held-out test year. Throughout, 'pipeline' means a single draw from the FULL pipeline (DRN + diffusion), not the smoothed ensemble mean -- that's what a user of the generative model actually gets.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spectrum for all 6 base variables: T2, TD2, U10, V10, PSFC, PREC_ACC_NC. No derived fields here (RH, VPD, FFWI, HDW are elsewhere in the deck). CONUS404 truth, ERA5 interp, DRN, pipeline, mean over 3 land dominated event windows. On a log y axis spanning several orders of magnitude, lines sit almost on top of each other, real differences exist but are hard to see at this scale. Next slide zooms into where each variable actually separates.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spectra, plotted as pred over truth power ratio and zoomed to the wavelength range where each variable separates most. 1.0 means matching truth. Reading across panels: pipeline is consistently closest to 1.0 or tied closest for T2, U10, V10, and PSFC. ERA5 interp is worst almost everywhere, dropping well below 0.5 for U10, V10 and PSFC at the finest scales. PREC_ACC_NC behaves differently from the rest: pipeline overshoots truth power by 7 to 9 times at fine scales while ERA5 and DRN sit near zero, consistent with the known precip failure mode elsewhere in this benchmark (likely noise amplification through the log1p transform, not confirmed). TD2's zoom window ended up spanning most of the spectrum since its separation is fairly uniform rather than concentrated at one scale.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on T2 and precip only, from the earlier two variable comparison: our latent model vs the official CorrDiff codebase (physicsnemo), both trained to completion (5,000,000+ steps) on our own ERA5 to CONUS404 data, not the authors' released weights (no CONUS checkpoint exists publicly). T2 RMSE: ERA5 interp about 1.7 to 2.0K, ours 0.92K, CorrDiff 1.20K, we win on T2. Precip RMSE: ERA5 about 0.7 to 3.0mm, ours 3.12mm, CorrDiff 0.49mm, CorrDiff wins clearly on precip (our known precip failure mode). See the next slide for all 6 variables, and the side by side pages later in this deck for actual output maps.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6 variables, same 6 matched held out dates. 'CorrDiff crop' and 'our crop' are run at different, unrecorded locations per date (corrdiff_output.nc stores no lat or lon), so the two ERA5 baseline numbers are not the same patch and should not be compared to each other directly, only pipeline to its own ERA5 baseline within each crop. What does CorrDiff's truth even mean, is it a different source: no. CorrDiff's generation config (external/corrdiff/conf/config_generate_era5conus404.yaml) points at the exact same CONUS404 cache directory we train and evaluate against, read through our own dataset adapter. Same ground truth source, different crop location, not an independent dataset. With only 6 dates and 1 fixed crop each, this is noisy: our pipeline beats its own ERA5 baseline on T2, U10, PSFC and precip is close, but loses to its own ERA5 baseline on TD2 and V10 at this particular crop, which is not what the larger 10 event benchmark elsewhere in this repo finds on average. Small sample, take the per variable numbers as illustrative, not as a replacement for the main benchmark.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stages trained for 5,000,000+ steps to completion on this repo's hardware (1 node, 4xA100 40GB), each resubmitted repeatedly because the SLURM queue caps jobs at 12h wall time (train.py auto-resumes from the checkpoint dir). Regression (CorrDiffRegressionUNet, step 5,000,003): 7 jobs, 3d 7h 39min compute (~318.6 GPU-h). Diffusion (EDMPrecondSuperResolution, step 5,000,000): 10 jobs, 4d 23h 2min compute (~476.1 GPU-h). Total: 17 jobs, 8d 6h 40min compute (~794.7 GPU-h), 8d 18h 11min wall-clock span (the gap between compute time and wall-clock is two multi-hour SLURM queue waits between resubmissions). Source: corrdiff_regression_loop.log, corrdiff_diffusion_loop.log, sacct job accounting.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4xA100 hardware, scripts/run_training.sh --stage {drn,vae,diffusion}. The real history also includes a superseded first diffusion attempt (~Mar 29-30, trained against an early VAE before a spectral loss was added) and some short crashed/retried jobs -- this chart is the ONE CLEAN PATH to the final checkpoints (drn_best.pt -&gt; vae_best.pt -&gt; diffusion_best.pt), excluding that abandoned attempt and the crashes, for a fair stage-for-stage comparison against the CorrDiff chart on the previous slide. DRN: 17 jobs, 3d 9h 29min (~326 GPU-h). VAE: 4 jobs, 1d 13h 17min (~149 GPU-h). Diffusion: 16 jobs, 6d 1h 37min (~582 GPU-h) -- and this stage had only reached epoch 106 of a planned 300 at the last logged step, i.e. not even run to its own full schedule. Total: 37 jobs, 11d 0h 23min compute (~1,058 GPU-h). KEY POINT, don't undersell it the other way either: this is MORE total GPU-hours than CorrDiff's ~795 GPU-h, even on the clean path -- not because latent-space training is slower per step, but because our pipeline has THREE stages trained end-to-end (DRN, then VAE, then diffusion) against CorrDiff's TWO (regression, then diffusion); the extra VAE stage and a second full pass over the data for DRN add real GPU-hours with no CorrDiff-side equivalent. The 'latent space is cheaper' argument elsewhere in this repo is about per-sample / per-step INFERENCE cost in the compressed 64x64 latent space, not total training GPU-hours -- see event_benchmark_output/README.md section 10 'Cost', where it's also not found faster than the small CorrDiff-style pixel baseline at inference time either. Don't claim 'ours trains faster'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2018-08-09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2018-12-07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2019-08-18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2019-08-25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2019-09-01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2020-08-19 (one of the 6 dates CorrDiff's own generate.py used). LEFT 3 columns =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CorrDiff's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BEFORE ignition (2016-03-21) -- starting/background conditions, the day before the fire that would become the largest wildfire in Kansas history (~374,226 MTBS-mapped acres) started near Freedom, Woods County, Oklahoma. CONSISTENCY NOTE: this follows a 'use the day before/first date' convention for picking a fire's starting-conditions date. The existing CampFire_wind event elsewhere in this repo is already dated 2018-11-08, which IS the Camp Fire's actual ignition date, so no change was needed there. LaborDay_heat (2020-09-06) is intentionally dated to a regional wind/heat EVENT day, not one fire's ignition date (it covers several already-burning August 2020 fires plus some new Sept 2020 ignitions) -- that's a different kind of case study by design, not an inconsistency.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of MAXIMUM SPREAD (2016-03-23) -- the fire started ~17:45 local on 2016-03-22 (vehicle-sparked, dry fuels, gusty wind) and made a fast overnight run north into Barber/Comanche Counties, Kansas; it had burned ~72,000 of its eventual ~374,000-400,000 acres by the afternoon of the 23rd, so this captures most of the spread.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Near-full CONTAINMENT (2016-03-29) -- 95% contained this day, fully controlled 2016-03-31.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means over the MTBS fire-perimeter mask, start -&gt; peak -&gt; end, for RH/VPD/WS/FFWI/HDW. 'pipeline' = full pipeline, single real draw, not an averaged ensemble mean. THE HEADLINE RESULT of this whole case study: ERA5 interp dramatically overstates how dangerous the peak-spread and containment days were, while DRN and the full-pipeline ensemble member track CONUS404 truth closely at all three dates. At peak spread: truth FFWI ~27 vs ERA5 ~46 (~1.7x over). At containment (post-frontal recovery -- truth RH jumps back to ~65%): ERA5's HDW is still ~60 vs truth ~24 (~2.5x over) -- ERA5 alone would have called the containment day nearly as dangerous as the peak-spread day, which is wrong. DRN/ensemble-member reproduce truth's sharp peak-then-recovery shape in all 5 fields. This is exactly the situation the correction pipeline exists for: a specific, consequential historical fire-weather emergency, not just aggregate stats.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Peak-spread-day FFWI (truth / DRN / pipeline) with the actual MTBS burn perimeter overlaid (blue outline). Two perimeter-source checks: NIFC/WFIGS has NO RECORD for this fire -- likely because it was a state/private-rangeland fire (Oklahoma Forestry Services / Kansas Forest Service jurisdiction), and WFIGS's federal IRWIN-sourced history mainly covers BLM/USFS/NPS incidents. MTBS (Landsat-derived, jurisdiction-agnostic) DOES have it: fire_id OK3692409905720160323, 374,226 acres, one assessed perimeter from a post-fire Landsat scene (2016-04-07, after full containment) -- for a grassland fire with no reburn, that single MTBS perimeter is effectively BOTH the final AND the maximum extent (no separate daily-growth polygon series available without VIIRS/MODIS hotspot clustering, not attempted). Note the burn scar (~65x45km) is small relative to this 2048km model window -- the regional FFWI hot spot in this crop is actually southwest of the fire itself, so a correct REGIONAL pattern isn't by itself proof the model nails the fire's own micro-scale conditions (see next slide for the zoomed check).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cropped to the perimeter's bounding box at native 4km resolution -- no GPU rerun needed, just a post-hoc crop of the already-saved prediction array. The actual burn scar shape is clearly resolved, and truth/DRN/full-pipeline-member FFWI all show mildly elevated fire-weather index roughly coincident with the perimeter interior.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analysis -- 'plug different methods' outputs into the same downstream model': feed each method's own T2/TD2/wind-speed into the identical fire_fields() VPD/FFWI/HDW formula and compare normalized RMSE (RMSE / truth sigma) at the input stage vs. the derived-index stage, mean over the 3 dates. 'pipeline' here is the full pipeline single draw, which is noisier than an averaged mean would be -- that's intentional, it's what a real user of the model actually sees. Numbers (ERA5 interp / DRN / pipeline): T2 0.39/0.16/0.21, TD2 0.53/0.26/0.36, WS 0.88/0.37/0.52 -&gt; VPD 0.72/0.25/0.27, FFWI 0.86/0.31/0.42, HDW 0.90/0.30/0.39. Key finding: VPD/FFWI/HDW's normalized error tracks WIND SPEED's error (the worst of the three inputs) far more closely than a simple average of T2/TD2/WS errors would predict -- consistent with HDW being a direct product (VPD x WS) and FFWI's strong wind-speed dependence. Practical takeaway: fixing wind-speed error would do more for downstream fire-weather-index accuracy here than fixing temperature error would, for both the baseline (ERA5) and the model (DRN/full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ground-truth check against a real surface station -- not derived from CONUS404/ERA5 at all. No RAWS (Remote Automated Weather Station) sits close to this fire (nearest ones are &gt;100 km away). The closest actual station with public, no-API-key historical data is AVK (Alva Regional Airport, Woods Co. OK, ASOS network), ~46 km from the fire-perimeter centroid -- pulled from the Iowa Environmental Mesonet's free ASOS archive (mesonet.agron.iastate.edu), no login required. Daily means computed from hourly obs for the 3 Anderson Creek dates, compared against CONUS404 truth / ERA5 interp / DRN / pipeline at the nearest model grid pixel to the station. T2/TD2/RH track CONUS404 reasonably well at all 3 dates (good independent corroboration that CONUS404 itself is believable near this fire). WIND SPEED is the interesting exception: the station reads NOTICEABLY HIGHER wind speed than even CONUS404 truth at all 3 dates (e.g. peak day: station ~13 m/s vs CONUS404 truth ~6.3 m/s) -- plausibly a representativeness mismatch (a point observation at an open airfield vs. a 4km grid-cell average), not necessarily a model error, but worth flagging since wind speed is the variable the fire-weather sensitivity analysis says matters most.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377440"/>
            <a:ext cx="10728655" cy="914400"/>
          </a:xfrm>
          <a:prstGeom prst="rect">
            <a:avLst/>
          </a:prstGeom>
          <a:noFill/>
        </p:spPr>
        <p:txBody>
          <a:bodyPr wrap="square">
            <a:spAutoFit/>
          </a:bodyPr>
          <a:lstStyle/>
          <a:p>
            <a:pPr algn="l">
              <a:defRPr sz="4000" b="1">
                <a:solidFill>
                  <a:srgbClr val="11141A"/>
                </a:solidFill>
                <a:latin typeface="Calibri"/>
              </a:defRPr>
            </a:pPr>
            <a:r>
              <a:t>ERA5→CONUS404 Latent CorrDiff</a:t>
            </a:r>
          </a:p>
        </p:txBody>
      </p:sp>
      <p:sp>
        <p:nvSpPr>
          <p:cNvPr id="3" name="TextBox 2"/>
          <p:cNvSpPr txBox="1"/>
          <p:nvPr/>
        </p:nvSpPr>
        <p:spPr>
          <a:xfrm>
            <a:off x="731520" y="3383280"/>
            <a:ext cx="10728655" cy="548640"/>
          </a:xfrm>
          <a:prstGeom prst="rect">
            <a:avLst/>
          </a:prstGeom>
          <a:noFill/>
        </p:spPr>
        <p:txBody>
          <a:bodyPr wrap="square">
            <a:spAutoFit/>
          </a:bodyPr>
          <a:lstStyle/>
          <a:p>
            <a:pPr algn="l">
              <a:defRPr sz="1800">
                <a:solidFill>
                  <a:srgbClr val="5B6470"/>
                </a:solidFill>
                <a:latin typeface="Calibri"/>
              </a:defRPr>
            </a:pPr>
            <a:r>
              <a:t>Frequency-domain detail · CorrDiff comparison · Anderson Creek Fire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allvars.png"/>
          <p:cNvPicPr>
            <a:picLocks noChangeAspect="1"/>
          </p:cNvPicPr>
          <p:nvPr/>
        </p:nvPicPr>
        <p:blipFill>
          <a:blip r:embed="rId2"/>
          <a:stretch>
            <a:fillRect/>
          </a:stretch>
        </p:blipFill>
        <p:spPr>
          <a:xfrm>
            <a:off x="1398719" y="868680"/>
            <a:ext cx="939425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all variables, raw 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allvars_zoom.png"/>
          <p:cNvPicPr>
            <a:picLocks noChangeAspect="1"/>
          </p:cNvPicPr>
          <p:nvPr/>
        </p:nvPicPr>
        <p:blipFill>
          <a:blip r:embed="rId2"/>
          <a:stretch>
            <a:fillRect/>
          </a:stretch>
        </p:blipFill>
        <p:spPr>
          <a:xfrm>
            <a:off x="1398719" y="868680"/>
            <a:ext cx="939425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all variables, zoomed to where they separate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urs_vs_nvidia_corrdiff_rmse.png"/>
          <p:cNvPicPr>
            <a:picLocks noChangeAspect="1"/>
          </p:cNvPicPr>
          <p:nvPr/>
        </p:nvPicPr>
        <p:blipFill>
          <a:blip r:embed="rId2"/>
          <a:stretch>
            <a:fillRect/>
          </a:stretch>
        </p:blipFill>
        <p:spPr>
          <a:xfrm>
            <a:off x="604374" y="868680"/>
            <a:ext cx="1098294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ours vs corrdiff, T2 and precip only, mean RMSE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uracy_allvars_bullets.png"/>
          <p:cNvPicPr>
            <a:picLocks noChangeAspect="1"/>
          </p:cNvPicPr>
          <p:nvPr/>
        </p:nvPicPr>
        <p:blipFill>
          <a:blip r:embed="rId2"/>
          <a:stretch>
            <a:fillRect/>
          </a:stretch>
        </p:blipFill>
        <p:spPr>
          <a:xfrm>
            <a:off x="1481944" y="868680"/>
            <a:ext cx="9227805"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accuracy, all variables, corrdiff vs 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11141A"/>
                </a:solidFill>
                <a:latin typeface="Calibri"/>
              </a:defRPr>
            </a:pPr>
            <a:r>
              <a:t>CorrDiff (official physicsnemo code), training time, one clean pass</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11141A"/>
                </a:solidFill>
                <a:latin typeface="Calibri"/>
              </a:defRPr>
            </a:pPr>
            <a:r>
              <a:t>Our latent model (DRN + VAE + Diffusion), training time, clean path only</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08-09.png"/>
          <p:cNvPicPr>
            <a:picLocks noChangeAspect="1"/>
          </p:cNvPicPr>
          <p:nvPr/>
        </p:nvPicPr>
        <p:blipFill>
          <a:blip r:embed="rId2"/>
          <a:stretch>
            <a:fillRect/>
          </a:stretch>
        </p:blipFill>
        <p:spPr>
          <a:xfrm>
            <a:off x="457200" y="1571714"/>
            <a:ext cx="11277295" cy="417177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2018-08-09, same date, different (unrecorded) crops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12-07.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2018-12-07, same date, different (unrecorded) crops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18.png"/>
          <p:cNvPicPr>
            <a:picLocks noChangeAspect="1"/>
          </p:cNvPicPr>
          <p:nvPr/>
        </p:nvPicPr>
        <p:blipFill>
          <a:blip r:embed="rId2"/>
          <a:stretch>
            <a:fillRect/>
          </a:stretch>
        </p:blipFill>
        <p:spPr>
          <a:xfrm>
            <a:off x="457200" y="1589662"/>
            <a:ext cx="11277295" cy="413587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2019-08-18, same date, different (unrecorded) crops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25.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2019-08-25, same date, different (unrecorded) crops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9-01.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2019-09-01, same date, different (unrecorded) crops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20-08-19.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2020-08-19, same date, different (unrecorded) crops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start.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before ignition (2016-03-21)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peak.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of maximum spread (2016-03-23)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end.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near-full containment (2016-03-29)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timeline.png"/>
          <p:cNvPicPr>
            <a:picLocks noChangeAspect="1"/>
          </p:cNvPicPr>
          <p:nvPr/>
        </p:nvPicPr>
        <p:blipFill>
          <a:blip r:embed="rId2"/>
          <a:stretch>
            <a:fillRect/>
          </a:stretch>
        </p:blipFill>
        <p:spPr>
          <a:xfrm>
            <a:off x="457200" y="2529870"/>
            <a:ext cx="11277295" cy="2255459"/>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Fire-weather timeline: start → peak → containment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png"/>
          <p:cNvPicPr>
            <a:picLocks noChangeAspect="1"/>
          </p:cNvPicPr>
          <p:nvPr/>
        </p:nvPicPr>
        <p:blipFill>
          <a:blip r:embed="rId2"/>
          <a:stretch>
            <a:fillRect/>
          </a:stretch>
        </p:blipFill>
        <p:spPr>
          <a:xfrm>
            <a:off x="457200" y="1778050"/>
            <a:ext cx="11277295" cy="375909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Peak-spread FFWI vs. the actual MTBS burn perimeter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_zoom.png"/>
          <p:cNvPicPr>
            <a:picLocks noChangeAspect="1"/>
          </p:cNvPicPr>
          <p:nvPr/>
        </p:nvPicPr>
        <p:blipFill>
          <a:blip r:embed="rId2"/>
          <a:stretch>
            <a:fillRect/>
          </a:stretch>
        </p:blipFill>
        <p:spPr>
          <a:xfrm>
            <a:off x="457200" y="1590095"/>
            <a:ext cx="11277295" cy="413500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Zoomed on the actual burn scar (4 km native resolution)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sensitivity.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Sensitivity: does the fire-weather formula amplify upstream error?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raws_validation.png"/>
          <p:cNvPicPr>
            <a:picLocks noChangeAspect="1"/>
          </p:cNvPicPr>
          <p:nvPr/>
        </p:nvPicPr>
        <p:blipFill>
          <a:blip r:embed="rId2"/>
          <a:stretch>
            <a:fillRect/>
          </a:stretch>
        </p:blipFill>
        <p:spPr>
          <a:xfrm>
            <a:off x="457200" y="2247938"/>
            <a:ext cx="11277295" cy="2819323"/>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Independent station check (AVK ASOS, ~46 km from the fire) vs.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