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GPU-hours (4xA100)</c:v>
                </c:pt>
              </c:strCache>
            </c:strRef>
          </c:tx>
          <c:spPr>
            <a:solidFill>
              <a:srgbClr val="76B900"/>
            </a:solidFill>
          </c:spPr>
          <c:cat>
            <c:strRef>
              <c:f>Sheet1!$A$2:$A$3</c:f>
              <c:strCache>
                <c:ptCount val="2"/>
                <c:pt idx="0">
                  <c:v>Regression (5M steps)</c:v>
                </c:pt>
                <c:pt idx="1">
                  <c:v>Diffusion (5M steps)</c:v>
                </c:pt>
              </c:strCache>
            </c:strRef>
          </c:cat>
          <c:val>
            <c:numRef>
              <c:f>Sheet1!$B$2:$B$3</c:f>
              <c:numCache>
                <c:formatCode>General</c:formatCode>
                <c:ptCount val="2"/>
                <c:pt idx="0">
                  <c:v>318.6</c:v>
                </c:pt>
                <c:pt idx="1">
                  <c:v>476.1</c:v>
                </c:pt>
              </c:numCache>
            </c:numRef>
          </c:val>
        </c:ser>
        <c:dLbls>
          <c:numFmt formatCode="0" sourceLinked="0"/>
          <c:txPr>
            <a:bodyPr/>
            <a:lstStyle/>
            <a:p>
              <a:pPr>
                <a:defRPr sz="1400">
                  <a:solidFill>
                    <a:srgbClr val="FFFFFF"/>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2A2F3A"/>
            </a:solidFill>
          </a:ln>
        </c:spPr>
        <c:txPr>
          <a:bodyPr/>
          <a:lstStyle/>
          <a:p>
            <a:pPr>
              <a:defRPr sz="1300">
                <a:solidFill>
                  <a:srgbClr val="C8CED6"/>
                </a:solidFill>
              </a:defRPr>
            </a:pPr>
          </a:p>
        </c:txPr>
        <c:crossAx val="-2113994440"/>
        <c:crosses val="autoZero"/>
        <c:auto val="1"/>
        <c:lblAlgn val="ctr"/>
        <c:lblOffset val="100"/>
        <c:noMultiLvlLbl val="0"/>
      </c:catAx>
      <c:valAx>
        <c:axId val="-2113994440"/>
        <c:scaling/>
        <c:delete val="0"/>
        <c:axPos val="l"/>
        <c:majorGridlines>
          <c:spPr>
            <a:ln>
              <a:solidFill>
                <a:srgbClr val="2A2F3A"/>
              </a:solidFill>
            </a:ln>
          </c:spPr>
        </c:majorGridlines>
        <c:title>
          <c:tx>
            <c:rich>
              <a:bodyPr/>
              <a:lstStyle/>
              <a:p>
                <a:pPr>
                  <a:defRPr sz="1200">
                    <a:solidFill>
                      <a:srgbClr val="C8CED6"/>
                    </a:solidFill>
                  </a:defRPr>
                </a:pPr>
                <a:r>
                  <a:t>GPU-hours</a:t>
                </a:r>
              </a:p>
            </c:rich>
          </c:tx>
          <c:layout/>
          <c:overlay val="0"/>
        </c:title>
        <c:majorTickMark val="out"/>
        <c:minorTickMark val="none"/>
        <c:tickLblPos val="nextTo"/>
        <c:spPr>
          <a:ln>
            <a:solidFill>
              <a:srgbClr val="2A2F3A"/>
            </a:solidFill>
          </a:ln>
        </c:spPr>
        <c:txPr>
          <a:bodyPr/>
          <a:lstStyle/>
          <a:p>
            <a:pPr>
              <a:defRPr sz="1200">
                <a:solidFill>
                  <a:srgbClr val="C8CED6"/>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GPU-hours (4xA100)</c:v>
                </c:pt>
              </c:strCache>
            </c:strRef>
          </c:tx>
          <c:spPr>
            <a:solidFill>
              <a:srgbClr val="2A9D8F"/>
            </a:solidFill>
          </c:spPr>
          <c:cat>
            <c:strRef>
              <c:f>Sheet1!$A$2:$A$4</c:f>
              <c:strCache>
                <c:ptCount val="3"/>
                <c:pt idx="0">
                  <c:v>DRN</c:v>
                </c:pt>
                <c:pt idx="1">
                  <c:v>VAE</c:v>
                </c:pt>
                <c:pt idx="2">
                  <c:v>Diffusion (epoch 106/300)</c:v>
                </c:pt>
              </c:strCache>
            </c:strRef>
          </c:cat>
          <c:val>
            <c:numRef>
              <c:f>Sheet1!$B$2:$B$4</c:f>
              <c:numCache>
                <c:formatCode>General</c:formatCode>
                <c:ptCount val="3"/>
                <c:pt idx="0">
                  <c:v>326</c:v>
                </c:pt>
                <c:pt idx="1">
                  <c:v>149</c:v>
                </c:pt>
                <c:pt idx="2">
                  <c:v>582</c:v>
                </c:pt>
              </c:numCache>
            </c:numRef>
          </c:val>
        </c:ser>
        <c:dLbls>
          <c:numFmt formatCode="0" sourceLinked="0"/>
          <c:txPr>
            <a:bodyPr/>
            <a:lstStyle/>
            <a:p>
              <a:pPr>
                <a:defRPr sz="1400">
                  <a:solidFill>
                    <a:srgbClr val="FFFFFF"/>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2A2F3A"/>
            </a:solidFill>
          </a:ln>
        </c:spPr>
        <c:txPr>
          <a:bodyPr/>
          <a:lstStyle/>
          <a:p>
            <a:pPr>
              <a:defRPr sz="1300">
                <a:solidFill>
                  <a:srgbClr val="C8CED6"/>
                </a:solidFill>
              </a:defRPr>
            </a:pPr>
          </a:p>
        </c:txPr>
        <c:crossAx val="-2113994440"/>
        <c:crosses val="autoZero"/>
        <c:auto val="1"/>
        <c:lblAlgn val="ctr"/>
        <c:lblOffset val="100"/>
        <c:noMultiLvlLbl val="0"/>
      </c:catAx>
      <c:valAx>
        <c:axId val="-2113994440"/>
        <c:scaling/>
        <c:delete val="0"/>
        <c:axPos val="l"/>
        <c:majorGridlines>
          <c:spPr>
            <a:ln>
              <a:solidFill>
                <a:srgbClr val="2A2F3A"/>
              </a:solidFill>
            </a:ln>
          </c:spPr>
        </c:majorGridlines>
        <c:title>
          <c:tx>
            <c:rich>
              <a:bodyPr/>
              <a:lstStyle/>
              <a:p>
                <a:pPr>
                  <a:defRPr sz="1200">
                    <a:solidFill>
                      <a:srgbClr val="C8CED6"/>
                    </a:solidFill>
                  </a:defRPr>
                </a:pPr>
                <a:r>
                  <a:t>GPU-hours</a:t>
                </a:r>
              </a:p>
            </c:rich>
          </c:tx>
          <c:layout/>
          <c:overlay val="0"/>
        </c:title>
        <c:majorTickMark val="out"/>
        <c:minorTickMark val="none"/>
        <c:tickLblPos val="nextTo"/>
        <c:spPr>
          <a:ln>
            <a:solidFill>
              <a:srgbClr val="2A2F3A"/>
            </a:solidFill>
          </a:ln>
        </c:spPr>
        <c:txPr>
          <a:bodyPr/>
          <a:lstStyle/>
          <a:p>
            <a:pPr>
              <a:defRPr sz="1200">
                <a:solidFill>
                  <a:srgbClr val="C8CED6"/>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assembled from the corrdiff-r2d2 benchmark branch. Three threads: (1) a T2 frequency-domain follow-up to the main event-based spectra figure, (2) the official NVIDIA CorrDiff (physicsnemo) accuracy/training-time comparison against our latent model, plus date-matched side-by-side output panels, (3) the Anderson Creek Fire (2016) case study -- kept separate from the headline 10-event, test-year (2018-2020) scorecard since 2016 is a validation year, not a held-out test year. Throughout, 'Ens member' means a single draw from the FULL pipeline (DRN + diffusion), not the smoothed ensemble mean -- that's what a user of the generative model actually gets.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T2 power spectrum (log-log), 3 land-dominated event windows, with a "figure in figure" inset zoomed on the 4-64 km short-wavelength tail. Why T2 specifically: it's a smooth, terrain/coastline-driven field whose spatial structure genuinely lives at identifiable wavelengths, unlike precip (intermittent, spiky -- a spectrum mixes real structure with outlier-cell noise) or RH/wind (already inherit T2's own error pattern). "Temperature as a wave" is literal here, not just rhetorical -- the FFT decomposition treats the field as a sum of 2D spatial sine/cosine waves, and the question "does the model get wavelength X right" is the question "does it get that wave's amplitude right." The inset exists because a log-log plot visually compresses the short-wavelength tail into the rightmost ~15% of the x-axis, even though that's the range we care about most (fine-scale detail is exactly what the diffusion stage is supposed to add back). NOTE: on a log-y axis spanning ~6 orders of magnitude, every method's curve sits almost on top of every other one -- real differences exist but are nearly invisible at this scale. See the next two slides for views that actually separate the methods.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T2 spectrum data, re-plotted on a LINEAR wavenumber axis (cycles/km) instead of log-wavelength. A log axis spaces octaves evenly, which is why the high-frequency tail gets compressed in the previous slide; a linear-frequency axis instead spaces wavenumber increments evenly, stretching out exactly that high-frequency half. LEFT panel: raw power again (still log-y, so still hard to compare lines directly). RIGHT panel is the actual payoff: it plots each method's power DIVIDED BY truth's power at every frequency -- 1.0 = matches truth exactly, below 1.0 = missing fine-scale detail, above 1.0 = overshooting it. ERA5 interp's ratio dips to ~0.65-0.70 at mid-frequencies while DRN/ensemble member stay closer to 0.85-1.0 -- a real, visible separation. Tradeoff: a linear x-axis crowds the large-scale (low-frequency) end, which matters for e.g. the surface-pressure scale-dependence finding elsewhere in the benchmark -- so both this and the log view are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clearest version of 'where does each method differ.' Same pred/truth power ratio as the previous slide's right panel, but zoomed to wavelengths &lt;=128 km (where the methods actually separate) with a tighter y-axis (0.5-1.15 instead of 0-2.2). Reading bottom to top: ERA5 interp (grey) is worst, dropping as low as ~0.6 ratio around 40-60 km wavelength -- it loses more than a third of the true fine-scale variance there. DRN (orange) is consistently better, staying mostly 0.8-0.9. Ens member -- the FULL diffusion pipeline output, a single real draw, not an averaged/smoothed ensemble mean -- (dark teal) is consistently the best or tied-best of the three, tracking closest to the dashed 1.0 truth line across almost the whole zoomed range. This is the clearest demonstration in the deck that the diffusion stage adds back real fine-scale power that both ERA5 and the DRN-only regression stage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our latent model vs. the official NVIDIA CorrDiff codebase (physicsnemo), both trained to completion (5,000,000+ steps) on our own ERA5-&gt;CONUS404 data, not the authors' released weights (no CONUS checkpoint exists publicly). Evaluated on 6 matched held-out test-year (2018-2020) dates. T2 RMSE: ERA5 interp ~1.7-2.0K, ours 0.92K, NVIDIA CorrDiff 1.20K -- we win on T2. Precip RMSE: ERA5 ~0.7-3.0mm, ours 3.12mm, NVIDIA CorrDiff 0.49mm -- NVIDIA wins clearly on precip (our known precip failure mode, likely expm1-of-noise in log1p space, not confirmed). Caveat: not a pixel-identical comparison -- physicsnemo's generate.py picks a random CONUS crop per sample with no recorded lat/lon, so this is a statistical same-dates comparison. See the side-by-side pages later in this deck for actual output maps from both pipelines on each of the 6 dates.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spectrum from the NVIDIA CorrDiff (physicsnemo) generation output on the same held-out dates -- companion figure to the RMSE comparison. Generated by scripts/run_corrdiff_generate.sh -&gt; scripts/analyze_corrdiff_benchmark.py, reading external/corrdiff/physicsnemo_src/.../corrdiff_output.nc.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stages trained for 5,000,000+ steps to completion on this repo's hardware (1 node, 4xA100 40GB), each resubmitted repeatedly because the SLURM queue caps jobs at 12h wall time (train.py auto-resumes from the checkpoint dir). Regression (CorrDiffRegressionUNet, step 5,000,003): 7 jobs, 3d 7h 39min compute (~318.6 GPU-h). Diffusion (EDMPrecondSuperResolution, step 5,000,000): 10 jobs, 4d 23h 2min compute (~476.1 GPU-h). Total: 17 jobs, 8d 6h 40min compute (~794.7 GPU-h), 8d 18h 11min wall-clock span (the gap between compute time and wall-clock is two multi-hour SLURM queue waits between resubmissions). Source: corrdiff_regression_loop.log, corrdiff_diffusion_loop.log, sacct job accounting.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4xA100 hardware, scripts/run_training.sh --stage {drn,vae,diffusion}. The real history also includes a superseded first diffusion attempt (~Mar 29-30, trained against an early VAE before a spectral loss was added) and some short crashed/retried jobs -- this chart is the ONE CLEAN PATH to the final checkpoints (drn_best.pt -&gt; vae_best.pt -&gt; diffusion_best.pt), excluding that abandoned attempt and the crashes, for a fair stage-for-stage comparison against the NVIDIA chart on the previous slide. DRN: 17 jobs, 3d 9h 29min (~326 GPU-h). VAE: 4 jobs, 1d 13h 17min (~149 GPU-h). Diffusion: 16 jobs, 6d 1h 37min (~582 GPU-h) -- and this stage had only reached epoch 106 of a planned 300 at the last logged step, i.e. not even run to its own full schedule. Total: 37 jobs, 11d 0h 23min compute (~1,058 GPU-h). KEY POINT, don't undersell it the other way either: this is MORE total GPU-hours than NVIDIA's ~795 GPU-h, even on the clean path -- not because latent-space training is slower per step, but because our pipeline has THREE stages trained end-to-end (DRN, then VAE, then diffusion) against NVIDIA's TWO (regression, then diffusion); the extra VAE stage and a second full pass over the data for DRN add real GPU-hours with no NVIDIA-side equivalent. The 'latent space is cheaper' argument elsewhere in this repo is about per-sample / per-step INFERENCE cost in the compressed 64x64 latent space, not total training GPU-hours -- see event_benchmark_output/README.md section 10 'Cost', where it's also not found faster than the small CorrDiff-style pixel baseline at inference time either. Don't claim 'ours trains faster'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2018-08-09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2018-12-07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2019-08-18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2019-08-25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2019-09-01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2020-08-19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BEFORE ignition (2016-03-21) -- starting/background conditions, the day before the fire that would become the largest wildfire in Kansas history (~374,226 MTBS-mapped acres) started near Freedom, Woods County, Oklahoma. CONSISTENCY NOTE: this follows a 'use the day before/first date' convention for picking a fire's starting-conditions date. The existing CampFire_wind event elsewhere in this repo is already dated 2018-11-08, which IS the Camp Fire's actual ignition date, so no change was needed there. LaborDay_heat (2020-09-06) is intentionally dated to a regional wind/heat EVENT day, not one fire's ignition date (it covers several already-burning August 2020 fires plus some new Sept 2020 ignitions) -- that's a different kind of case study by design, not an inconsistency. Panels: CONUS404 truth / ERA5 interp / DRN / Ens member (FULL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of MAXIMUM SPREAD (2016-03-23) -- the fire started ~17:45 local on 2016-03-22 (vehicle-sparked, dry fuels, gusty wind) and made a fast overnight run north into Barber/Comanche Counties, Kansas; it had burned ~72,000 of its eventual ~374,000-400,000 acres by the afternoon of the 23rd, so this captures most of the spread. Panels: CONUS404 truth / ERA5 interp / DRN / Ens member (FULL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Near-full CONTAINMENT (2016-03-29) -- 95% contained this day, fully controlled 2016-03-31. Panels: CONUS404 truth / ERA5 interp / DRN / Ens member (FULL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means over the MTBS fire-perimeter mask, start -&gt; peak -&gt; end, for RH/VPD/WS/FFWI/HDW. 'Ens member' = full pipeline, single real draw, not an averaged ensemble mean. THE HEADLINE RESULT of this whole case study: ERA5 interp dramatically overstates how dangerous the peak-spread and containment days were, while DRN and the full-pipeline ensemble member track CONUS404 truth closely at all three dates. At peak spread: truth FFWI ~27 vs ERA5 ~46 (~1.7x over). At containment (post-frontal recovery -- truth RH jumps back to ~65%): ERA5's HDW is still ~60 vs truth ~24 (~2.5x over) -- ERA5 alone would have called the containment day nearly as dangerous as the peak-spread day, which is wrong. DRN/ensemble-member reproduce truth's sharp peak-then-recovery shape in all 5 fields. This is exactly the situation the correction pipeline exists for: a specific, consequential historical fire-weather emergency, not just aggregate stats.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Peak-spread-day FFWI (truth / DRN / full-pipeline Ens member) with the actual MTBS burn perimeter overlaid (blue outline). Two perimeter-source checks: NIFC/WFIGS has NO RECORD for this fire -- likely because it was a state/private-rangeland fire (Oklahoma Forestry Services / Kansas Forest Service jurisdiction), and WFIGS's federal IRWIN-sourced history mainly covers BLM/USFS/NPS incidents. MTBS (Landsat-derived, jurisdiction-agnostic) DOES have it: fire_id OK3692409905720160323, 374,226 acres, one assessed perimeter from a post-fire Landsat scene (2016-04-07, after full containment) -- for a grassland fire with no reburn, that single MTBS perimeter is effectively BOTH the final AND the maximum extent (no separate daily-growth polygon series available without VIIRS/MODIS hotspot clustering, not attempted). Note the burn scar (~65x45km) is small relative to this 2048km model window -- the regional FFWI hot spot in this crop is actually southwest of the fire itself, so a correct REGIONAL pattern isn't by itself proof the model nails the fire's own micro-scale conditions (see next slide for the zoomed check).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cropped to the perimeter's bounding box at native 4km resolution -- no GPU rerun needed, just a post-hoc crop of the already-saved prediction array. The actual burn scar shape is clearly resolved, and truth/DRN/full-pipeline-member FFWI all show mildly elevated fire-weather index roughly coincident with the perimeter interior.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analysis -- 'plug different methods' outputs into the same downstream model': feed each method's own T2/TD2/wind-speed into the identical fire_fields() VPD/FFWI/HDW formula and compare normalized RMSE (RMSE / truth sigma) at the input stage vs. the derived-index stage, mean over the 3 dates. 'Ens member' here is the full pipeline single draw, which is noisier than an averaged mean would be -- that's intentional, it's what a real user of the model actually sees. Numbers (ERA5 interp / DRN / Ens member): T2 0.39/0.16/0.21, TD2 0.53/0.26/0.36, WS 0.88/0.37/0.52 -&gt; VPD 0.72/0.25/0.27, FFWI 0.86/0.31/0.42, HDW 0.90/0.30/0.39. Key finding: VPD/FFWI/HDW's normalized error tracks WIND SPEED's error (the worst of the three inputs) far more closely than a simple average of T2/TD2/WS errors would predict -- consistent with HDW being a direct product (VPD x WS) and FFWI's strong wind-speed dependence. Practical takeaway: fixing wind-speed error would do more for downstream fire-weather-index accuracy here than fixing temperature error would, for both the baseline (ERA5) and the model (DRN/full pipeline).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ground-truth check against a real surface station -- not derived from CONUS404/ERA5 at all. No RAWS (Remote Automated Weather Station) sits close to this fire (nearest ones are &gt;100 km away). The closest actual station with public, no-API-key historical data is AVK (Alva Regional Airport, Woods Co. OK, ASOS network), ~46 km from the fire-perimeter centroid -- pulled from the Iowa Environmental Mesonet's free ASOS archive (mesonet.agron.iastate.edu), no login required. Daily means computed from hourly obs for the 3 Anderson Creek dates, compared against CONUS404 truth / ERA5 interp / DRN / Ens member (full pipeline) at the nearest model grid pixel to the station. T2/TD2/RH track CONUS404 reasonably well at all 3 dates (good independent corroboration that CONUS404 itself is believable near this fire). WIND SPEED is the interesting exception: the station reads NOTICEABLY HIGHER wind speed than even CONUS404 truth at all 3 dates (e.g. peak day: station ~13 m/s vs CONUS404 truth ~6.3 m/s) -- plausibly a representativeness mismatch (a point observation at an open airfield vs. a 4km grid-cell average), not necessarily a model error, but worth flagging since wind speed is the variable the fire-weather sensitivity analysis says matters most.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731520" y="2377440"/>
            <a:ext cx="10728655" cy="914400"/>
          </a:xfrm>
          <a:prstGeom prst="rect">
            <a:avLst/>
          </a:prstGeom>
          <a:noFill/>
        </p:spPr>
        <p:txBody>
          <a:bodyPr wrap="square">
            <a:spAutoFit/>
          </a:bodyPr>
          <a:lstStyle/>
          <a:p>
            <a:pPr algn="l">
              <a:defRPr sz="4000" b="1">
                <a:solidFill>
                  <a:srgbClr val="FFFFFF"/>
                </a:solidFill>
                <a:latin typeface="Calibri"/>
              </a:defRPr>
            </a:pPr>
            <a:r>
              <a:t>ERA5→CONUS404 Latent CorrDiff</a:t>
            </a:r>
          </a:p>
        </p:txBody>
      </p:sp>
      <p:sp>
        <p:nvSpPr>
          <p:cNvPr id="3" name="TextBox 2"/>
          <p:cNvSpPr txBox="1"/>
          <p:nvPr/>
        </p:nvSpPr>
        <p:spPr>
          <a:xfrm>
            <a:off x="731520" y="3383280"/>
            <a:ext cx="10728655" cy="548640"/>
          </a:xfrm>
          <a:prstGeom prst="rect">
            <a:avLst/>
          </a:prstGeom>
          <a:noFill/>
        </p:spPr>
        <p:txBody>
          <a:bodyPr wrap="square">
            <a:spAutoFit/>
          </a:bodyPr>
          <a:lstStyle/>
          <a:p>
            <a:pPr algn="l">
              <a:defRPr sz="1800">
                <a:solidFill>
                  <a:srgbClr val="9AA5B1"/>
                </a:solidFill>
                <a:latin typeface="Calibri"/>
              </a:defRPr>
            </a:pPr>
            <a:r>
              <a:t>Frequency-domain detail · NVIDIA CorrDiff comparison · Anderson Creek Fire case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t2_spectrum_detail.png"/>
          <p:cNvPicPr>
            <a:picLocks noChangeAspect="1"/>
          </p:cNvPicPr>
          <p:nvPr/>
        </p:nvPicPr>
        <p:blipFill>
          <a:blip r:embed="rId2"/>
          <a:stretch>
            <a:fillRect/>
          </a:stretch>
        </p:blipFill>
        <p:spPr>
          <a:xfrm>
            <a:off x="2842107" y="868680"/>
            <a:ext cx="650748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T2 power spectrum (log-log) — raw view, all methods look nearly identical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t2_spectrum_linear_freq.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Same data, linear frequency axis — right panel = pred/truth power ratio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t2_spectrum_ratio_zoom.png"/>
          <p:cNvPicPr>
            <a:picLocks noChangeAspect="1"/>
          </p:cNvPicPr>
          <p:nvPr/>
        </p:nvPicPr>
        <p:blipFill>
          <a:blip r:embed="rId2"/>
          <a:stretch>
            <a:fillRect/>
          </a:stretch>
        </p:blipFill>
        <p:spPr>
          <a:xfrm>
            <a:off x="2039236" y="868680"/>
            <a:ext cx="8113221"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Zoomed pred/truth ratio, 4–128 km — where the methods actually separate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ours_vs_nvidia_corrdiff_rmse.png"/>
          <p:cNvPicPr>
            <a:picLocks noChangeAspect="1"/>
          </p:cNvPicPr>
          <p:nvPr/>
        </p:nvPicPr>
        <p:blipFill>
          <a:blip r:embed="rId2"/>
          <a:stretch>
            <a:fillRect/>
          </a:stretch>
        </p:blipFill>
        <p:spPr>
          <a:xfrm>
            <a:off x="604374" y="868680"/>
            <a:ext cx="1098294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Ours vs. NVIDIA CorrDiff — mean RMSE, 6 matched held-out 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nvidia_corrdiff_power_spectrum.png"/>
          <p:cNvPicPr>
            <a:picLocks noChangeAspect="1"/>
          </p:cNvPicPr>
          <p:nvPr/>
        </p:nvPicPr>
        <p:blipFill>
          <a:blip r:embed="rId2"/>
          <a:stretch>
            <a:fillRect/>
          </a:stretch>
        </p:blipFill>
        <p:spPr>
          <a:xfrm>
            <a:off x="457200" y="1184837"/>
            <a:ext cx="11277295" cy="494552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power spectrum, same 6 dates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731520" y="320040"/>
            <a:ext cx="10728655" cy="548640"/>
          </a:xfrm>
          <a:prstGeom prst="rect">
            <a:avLst/>
          </a:prstGeom>
          <a:noFill/>
        </p:spPr>
        <p:txBody>
          <a:bodyPr wrap="square">
            <a:spAutoFit/>
          </a:bodyPr>
          <a:lstStyle/>
          <a:p>
            <a:pPr>
              <a:defRPr sz="2000" b="1">
                <a:solidFill>
                  <a:srgbClr val="FFFFFF"/>
                </a:solidFill>
                <a:latin typeface="Calibri"/>
              </a:defRPr>
            </a:pPr>
            <a:r>
              <a:t>NVIDIA CorrDiff (official physicsnemo code) — training time, one clean pass</a:t>
            </a:r>
          </a:p>
        </p:txBody>
      </p:sp>
      <p:graphicFrame>
        <p:nvGraphicFramePr>
          <p:cNvPr id="3" name="Chart 2"/>
          <p:cNvGraphicFramePr>
            <a:graphicFrameLocks noGrp="1"/>
          </p:cNvGraphicFramePr>
          <p:nvPr/>
        </p:nvGraphicFramePr>
        <p:xfrm>
          <a:off x="731520" y="1005840"/>
          <a:ext cx="10728655" cy="512064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731520" y="320040"/>
            <a:ext cx="10728655" cy="548640"/>
          </a:xfrm>
          <a:prstGeom prst="rect">
            <a:avLst/>
          </a:prstGeom>
          <a:noFill/>
        </p:spPr>
        <p:txBody>
          <a:bodyPr wrap="square">
            <a:spAutoFit/>
          </a:bodyPr>
          <a:lstStyle/>
          <a:p>
            <a:pPr>
              <a:defRPr sz="2000" b="1">
                <a:solidFill>
                  <a:srgbClr val="FFFFFF"/>
                </a:solidFill>
                <a:latin typeface="Calibri"/>
              </a:defRPr>
            </a:pPr>
            <a:r>
              <a:t>Our latent model (DRN + VAE + Diffusion) — training time, clean path only</a:t>
            </a:r>
          </a:p>
        </p:txBody>
      </p:sp>
      <p:graphicFrame>
        <p:nvGraphicFramePr>
          <p:cNvPr id="3" name="Chart 2"/>
          <p:cNvGraphicFramePr>
            <a:graphicFrameLocks noGrp="1"/>
          </p:cNvGraphicFramePr>
          <p:nvPr/>
        </p:nvGraphicFramePr>
        <p:xfrm>
          <a:off x="731520" y="1005840"/>
          <a:ext cx="10728655" cy="5120640"/>
        </p:xfrm>
        <a:graphic>
          <a:graphicData uri="http://schemas.openxmlformats.org/drawingml/2006/chart">
            <c:chart xmlns:c="http://schemas.openxmlformats.org/drawingml/2006/chart" r:id="rId2"/>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sidebyside_2018-08-09.png"/>
          <p:cNvPicPr>
            <a:picLocks noChangeAspect="1"/>
          </p:cNvPicPr>
          <p:nvPr/>
        </p:nvPicPr>
        <p:blipFill>
          <a:blip r:embed="rId2"/>
          <a:stretch>
            <a:fillRect/>
          </a:stretch>
        </p:blipFill>
        <p:spPr>
          <a:xfrm>
            <a:off x="457200" y="1571714"/>
            <a:ext cx="11277295" cy="417177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vs. ours, 2018-08-09 — same date, different (unrecorded) crops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sidebyside_2018-12-07.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vs. ours, 2018-12-07 — same date, different (unrecorded) crops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sidebyside_2019-08-18.png"/>
          <p:cNvPicPr>
            <a:picLocks noChangeAspect="1"/>
          </p:cNvPicPr>
          <p:nvPr/>
        </p:nvPicPr>
        <p:blipFill>
          <a:blip r:embed="rId2"/>
          <a:stretch>
            <a:fillRect/>
          </a:stretch>
        </p:blipFill>
        <p:spPr>
          <a:xfrm>
            <a:off x="457200" y="1589662"/>
            <a:ext cx="11277295" cy="413587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vs. ours, 2019-08-18 — same date, different (unrecorded) crops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sidebyside_2019-08-25.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vs. ours, 2019-08-25 — same date, different (unrecorded) crops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sidebyside_2019-09-01.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vs. ours, 2019-09-01 — same date, different (unrecorded) crops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sidebyside_2020-08-19.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NVIDIA CorrDiff vs. ours, 2020-08-19 — same date, different (unrecorded) crops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fire_weather_start.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Anderson Creek Fire — day before ignition (2016-03-21)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fire_weather_peak.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Anderson Creek Fire — day of maximum spread (2016-03-23)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fire_weather_end.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Anderson Creek Fire — near-full containment (2016-03-29)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timeline.png"/>
          <p:cNvPicPr>
            <a:picLocks noChangeAspect="1"/>
          </p:cNvPicPr>
          <p:nvPr/>
        </p:nvPicPr>
        <p:blipFill>
          <a:blip r:embed="rId2"/>
          <a:stretch>
            <a:fillRect/>
          </a:stretch>
        </p:blipFill>
        <p:spPr>
          <a:xfrm>
            <a:off x="457200" y="2529870"/>
            <a:ext cx="11277295" cy="2255459"/>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Fire-weather timeline: start → peak → containment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perimeter_overlay.png"/>
          <p:cNvPicPr>
            <a:picLocks noChangeAspect="1"/>
          </p:cNvPicPr>
          <p:nvPr/>
        </p:nvPicPr>
        <p:blipFill>
          <a:blip r:embed="rId2"/>
          <a:stretch>
            <a:fillRect/>
          </a:stretch>
        </p:blipFill>
        <p:spPr>
          <a:xfrm>
            <a:off x="457200" y="1778050"/>
            <a:ext cx="11277295" cy="375909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Peak-spread FFWI vs. the actual MTBS burn perimeter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perimeter_overlay_zoom.png"/>
          <p:cNvPicPr>
            <a:picLocks noChangeAspect="1"/>
          </p:cNvPicPr>
          <p:nvPr/>
        </p:nvPicPr>
        <p:blipFill>
          <a:blip r:embed="rId2"/>
          <a:stretch>
            <a:fillRect/>
          </a:stretch>
        </p:blipFill>
        <p:spPr>
          <a:xfrm>
            <a:off x="457200" y="1590095"/>
            <a:ext cx="11277295" cy="413500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Zoomed on the actual burn scar (4 km native resolution)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sensitivity.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Sensitivity: does the fire-weather formula amplify upstream error?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anderson_creek_raws_validation.png"/>
          <p:cNvPicPr>
            <a:picLocks noChangeAspect="1"/>
          </p:cNvPicPr>
          <p:nvPr/>
        </p:nvPicPr>
        <p:blipFill>
          <a:blip r:embed="rId2"/>
          <a:stretch>
            <a:fillRect/>
          </a:stretch>
        </p:blipFill>
        <p:spPr>
          <a:xfrm>
            <a:off x="457200" y="2247938"/>
            <a:ext cx="11277295" cy="2819323"/>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FFFFFF"/>
                </a:solidFill>
                <a:latin typeface="Calibri"/>
              </a:defRPr>
            </a:pPr>
            <a:r>
              <a:t>Independent station check (AVK ASOS, ~46 km from the fire) vs.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