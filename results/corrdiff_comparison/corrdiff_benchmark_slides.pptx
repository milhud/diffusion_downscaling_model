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GPU-hours (4xA100)</c:v>
                </c:pt>
              </c:strCache>
            </c:strRef>
          </c:tx>
          <c:spPr>
            <a:solidFill>
              <a:srgbClr val="76B900"/>
            </a:solidFill>
          </c:spPr>
          <c:cat>
            <c:strRef>
              <c:f>Sheet1!$A$2:$A$3</c:f>
              <c:strCache>
                <c:ptCount val="2"/>
                <c:pt idx="0">
                  <c:v>Regression (5M steps)</c:v>
                </c:pt>
                <c:pt idx="1">
                  <c:v>Diffusion (5M steps)</c:v>
                </c:pt>
              </c:strCache>
            </c: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318.6</c:v>
                </c:pt>
                <c:pt idx="1">
                  <c:v>476.1</c:v>
                </c:pt>
              </c:numCache>
            </c:numRef>
          </c:val>
        </c:ser>
        <c:dLbls>
          <c:numFmt formatCode="0" sourceLinked="0"/>
          <c:txPr>
            <a:bodyPr/>
            <a:lstStyle/>
            <a:p>
              <a:pPr>
                <a:defRPr sz="1400">
                  <a:solidFill>
                    <a:srgbClr val="FFFFFF"/>
                  </a:solidFill>
                  <a:latin typeface="Calibri"/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2A2F3A"/>
            </a:solidFill>
          </a:ln>
        </c:spPr>
        <c:txPr>
          <a:bodyPr/>
          <a:lstStyle/>
          <a:p>
            <a:pPr>
              <a:defRPr sz="1300">
                <a:solidFill>
                  <a:srgbClr val="C8CED6"/>
                </a:solidFill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>
          <c:spPr>
            <a:ln>
              <a:solidFill>
                <a:srgbClr val="2A2F3A"/>
              </a:solidFill>
            </a:ln>
          </c:spPr>
        </c:majorGridlines>
        <c:title>
          <c:tx>
            <c:rich>
              <a:bodyPr/>
              <a:lstStyle/>
              <a:p>
                <a:pPr>
                  <a:defRPr sz="1200">
                    <a:solidFill>
                      <a:srgbClr val="C8CED6"/>
                    </a:solidFill>
                  </a:defRPr>
                </a:pPr>
                <a:r>
                  <a:t>GPU-hours</a:t>
                </a:r>
              </a:p>
            </c:rich>
          </c:tx>
          <c:layout/>
          <c:overlay val="0"/>
        </c:title>
        <c:majorTickMark val="out"/>
        <c:minorTickMark val="none"/>
        <c:tickLblPos val="nextTo"/>
        <c:spPr>
          <a:ln>
            <a:solidFill>
              <a:srgbClr val="2A2F3A"/>
            </a:solidFill>
          </a:ln>
        </c:spPr>
        <c:txPr>
          <a:bodyPr/>
          <a:lstStyle/>
          <a:p>
            <a:pPr>
              <a:defRPr sz="1200">
                <a:solidFill>
                  <a:srgbClr val="C8CED6"/>
                </a:solidFill>
              </a:defRPr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GPU-hours (4xA100)</c:v>
                </c:pt>
              </c:strCache>
            </c:strRef>
          </c:tx>
          <c:spPr>
            <a:solidFill>
              <a:srgbClr val="2A9D8F"/>
            </a:solidFill>
          </c:spPr>
          <c:cat>
            <c:strRef>
              <c:f>Sheet1!$A$2:$A$4</c:f>
              <c:strCache>
                <c:ptCount val="3"/>
                <c:pt idx="0">
                  <c:v>DRN</c:v>
                </c:pt>
                <c:pt idx="1">
                  <c:v>VAE</c:v>
                </c:pt>
                <c:pt idx="2">
                  <c:v>Diffusion (epoch 106/300)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326</c:v>
                </c:pt>
                <c:pt idx="1">
                  <c:v>149</c:v>
                </c:pt>
                <c:pt idx="2">
                  <c:v>582</c:v>
                </c:pt>
              </c:numCache>
            </c:numRef>
          </c:val>
        </c:ser>
        <c:dLbls>
          <c:numFmt formatCode="0" sourceLinked="0"/>
          <c:txPr>
            <a:bodyPr/>
            <a:lstStyle/>
            <a:p>
              <a:pPr>
                <a:defRPr sz="1400">
                  <a:solidFill>
                    <a:srgbClr val="FFFFFF"/>
                  </a:solidFill>
                  <a:latin typeface="Calibri"/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2A2F3A"/>
            </a:solidFill>
          </a:ln>
        </c:spPr>
        <c:txPr>
          <a:bodyPr/>
          <a:lstStyle/>
          <a:p>
            <a:pPr>
              <a:defRPr sz="1300">
                <a:solidFill>
                  <a:srgbClr val="C8CED6"/>
                </a:solidFill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>
          <c:spPr>
            <a:ln>
              <a:solidFill>
                <a:srgbClr val="2A2F3A"/>
              </a:solidFill>
            </a:ln>
          </c:spPr>
        </c:majorGridlines>
        <c:title>
          <c:tx>
            <c:rich>
              <a:bodyPr/>
              <a:lstStyle/>
              <a:p>
                <a:pPr>
                  <a:defRPr sz="1200">
                    <a:solidFill>
                      <a:srgbClr val="C8CED6"/>
                    </a:solidFill>
                  </a:defRPr>
                </a:pPr>
                <a:r>
                  <a:t>GPU-hours</a:t>
                </a:r>
              </a:p>
            </c:rich>
          </c:tx>
          <c:layout/>
          <c:overlay val="0"/>
        </c:title>
        <c:majorTickMark val="out"/>
        <c:minorTickMark val="none"/>
        <c:tickLblPos val="nextTo"/>
        <c:spPr>
          <a:ln>
            <a:solidFill>
              <a:srgbClr val="2A2F3A"/>
            </a:solidFill>
          </a:ln>
        </c:spPr>
        <c:txPr>
          <a:bodyPr/>
          <a:lstStyle/>
          <a:p>
            <a:pPr>
              <a:defRPr sz="1200">
                <a:solidFill>
                  <a:srgbClr val="C8CED6"/>
                </a:solidFill>
              </a:defRPr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Deck assembled from the corrdiff-r2d2 benchmark branch. Three threads: (1) a T2 frequency-domain follow-up to the main event-based spectra figure, (2) the official NVIDIA CorrDiff (physicsnemo) accuracy/training-time comparison against our latent model, (3) the Anderson Creek Fire (2016) case study -- kept separate from the headline 10-event, test-year (2018-2020) scorecard since 2016 is a validation year, not a held-out test year.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T2 power spectrum (log-log), 3 land-dominated event windows, with a "figure in figure" inset zoomed on the 4-64 km short-wavelength tail. Why T2 specifically: it's a smooth, terrain/coastline-driven field whose spatial structure genuinely lives at identifiable wavelengths, unlike precip (intermittent, spiky -- a spectrum mixes real structure with outlier-cell noise) or RH/wind (already inherit T2's own error pattern). "Temperature as a wave" is literal here, not just rhetorical -- the FFT decomposition treats the field as a sum of 2D spatial sine/cosine waves, and the question "does the model get wavelength X right" is the question "does it get that wave's amplitude right." The inset exists because a log-log plot visually compresses the short-wavelength tail into the rightmost ~15% of the x-axis, even though that's the range we care about most (fine-scale detail is exactly what the diffusion stage is supposed to add back).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Same T2 spectrum data, re-plotted on a LINEAR wavenumber axis (cycles/km) instead of log-wavelength. A log axis spaces octaves evenly, which is why the high-frequency tail gets compressed in the previous slide; a linear-frequency axis instead spaces wavenumber increments evenly, stretching out exactly that high-frequency half. Right panel is the clearest payoff: ERA5 interp's pred/truth power ratio dips to ~0.65-0.70 at mid-frequencies while DRN/ensemble member stay closer to 0.85-1.0 -- a separation the log-log view compresses together and is easy to miss at a glance. Tradeoff: a linear axis crowds the large-scale (low-frequency) end, which matters for e.g. the surface-pressure scale-dependence finding elsewhere in the benchmark -- so both views are worth keeping, not either/or.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Accuracy: our latent model vs. the official NVIDIA CorrDiff codebase (physicsnemo), both trained to completion (5,000,000+ steps) on our own ERA5-&gt;CONUS404 data, not the authors' released weights (no CONUS checkpoint exists publicly). Evaluated on 6 matched held-out test-year (2018-2020) dates. T2 RMSE: ERA5 interp ~1.7-2.0K, ours 0.92K, NVIDIA CorrDiff 1.20K -- we win on T2. Precip RMSE: ERA5 ~0.7-3.0mm, ours 3.12mm, NVIDIA CorrDiff 0.49mm -- NVIDIA wins clearly on precip (our known precip failure mode, likely expm1-of-noise in log1p space, not confirmed). Caveat: not a pixel-identical comparison -- physicsnemo's generate.py picks a random CONUS crop per sample with no recorded lat/lon, so this is a statistical same-dates comparison.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Power spectrum from the NVIDIA CorrDiff (physicsnemo) generation output on the same held-out dates -- companion figure to the RMSE comparison. Generated by scripts/run_corrdiff_generate.sh -&gt; scripts/analyze_corrdiff_benchmark.py, reading external/corrdiff/physicsnemo_src/.../corrdiff_output.nc.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Both stages trained for 5,000,000+ steps to completion on this repo's hardware (1 node, 4xA100 40GB), each resubmitted repeatedly because the SLURM queue caps jobs at 12h wall time (train.py auto-resumes from the checkpoint dir). Regression (CorrDiffRegressionUNet, step 5,000,003): 7 jobs, 3d 7h 39min compute (~318.6 GPU-h). Diffusion (EDMPrecondSuperResolution, step 5,000,000): 10 jobs, 4d 23h 2min compute (~476.1 GPU-h). Total: 17 jobs, 8d 6h 40min compute (~794.7 GPU-h), 8d 18h 11min wall-clock span (the gap between compute time and wall-clock is two multi-hour SLURM queue waits between resubmissions). Source: corrdiff_regression_loop.log, corrdiff_diffusion_loop.log, sacct job accounting.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Same 4xA100 hardware, scripts/run_training.sh --stage {drn,vae,diffusion}. The real history also includes a superseded first diffusion attempt (~Mar 29-30, trained against an early VAE before a spectral loss was added) and some short crashed/retried jobs -- this chart is the ONE CLEAN PATH to the final checkpoints (drn_best.pt -&gt; vae_best.pt -&gt; diffusion_best.pt), excluding that abandoned attempt and the crashes, for a fair stage-for-stage comparison against the NVIDIA chart on the previous slide. DRN: 17 jobs, 3d 9h 29min (~326 GPU-h). VAE: 4 jobs, 1d 13h 17min (~149 GPU-h). Diffusion: 16 jobs, 6d 1h 37min (~582 GPU-h) -- and this stage had only reached epoch 106 of a planned 300 at the last logged step, i.e. not even run to its own full schedule. Total: 37 jobs, 11d 0h 23min compute (~1,058 GPU-h). KEY POINT, don't undersell it the other way either: this is MORE total GPU-hours than NVIDIA's ~795 GPU-h, even on the clean path -- not because latent-space training is slower per step, but because our pipeline has THREE stages trained end-to-end (DRN, then VAE, then diffusion) against NVIDIA's TWO (regression, then diffusion); the extra VAE stage and a second full pass over the data for DRN add real GPU-hours with no NVIDIA-side equivalent. The 'latent space is cheaper' argument elsewhere in this repo is about per-sample / per-step INFERENCE cost in the compressed 64x64 latent space, not total training GPU-hours -- see event_benchmark_output/README.md section 10 'Cost', where it's also not found faster than the small CorrDiff-style pixel baseline at inference time either. Don't claim 'ours trains faster' from this slide.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Day BEFORE ignition (2016-03-21) -- starting/background conditions, the day before the fire that would become the largest wildfire in Kansas history (~374,226 MTBS-mapped acres) started near Freedom, Woods County, Oklahoma. Panels: CONUS404 truth / ERA5 interp / DRN / diffusion-ensemble-mean, columns RH / VPD / WS / FFWI / HDW, all derived from daily-mean T2/TD2/U10/V10 via the same fire_fields() formula used throughout the benchmark (Magnus RH/VPD, Fosberg FFWI, Hot-Dry-Windy = VPD x wind). IMPORTANT CAVEAT for this whole case study: 2016 is a VALIDATION year (2015-2017 per docs/DATA_SPECIFICATION.md), not a held-out TEST year (2018-2020) -- kept separate from the main 10-event scorecard on purpose, since mixing it in would silently change numbers already quoted elsewhere.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Day of MAXIMUM SPREAD (2016-03-23) -- the fire started ~17:45 local on 2016-03-22 (vehicle-sparked, dry fuels, gusty wind) and made a fast overnight run north into Barber/Comanche Counties, Kansas; it had burned ~72,000 of its eventual ~374,000-400,000 acres by the afternoon of the 23rd, so this captures most of the spread. Panels: CONUS404 truth / ERA5 interp / DRN / diffusion-ensemble-mean, columns RH / VPD / WS / FFWI / HDW, all derived from daily-mean T2/TD2/U10/V10 via the same fire_fields() formula used throughout the benchmark (Magnus RH/VPD, Fosberg FFWI, Hot-Dry-Windy = VPD x wind). IMPORTANT CAVEAT for this whole case study: 2016 is a VALIDATION year (2015-2017 per docs/DATA_SPECIFICATION.md), not a held-out TEST year (2018-2020) -- kept separate from the main 10-event scorecard on purpose, since mixing it in would silently change numbers already quoted elsewhere.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Near-full CONTAINMENT (2016-03-29) -- 95% contained this day, fully controlled 2016-03-31. Panels: CONUS404 truth / ERA5 interp / DRN / diffusion-ensemble-mean, columns RH / VPD / WS / FFWI / HDW, all derived from daily-mean T2/TD2/U10/V10 via the same fire_fields() formula used throughout the benchmark (Magnus RH/VPD, Fosberg FFWI, Hot-Dry-Windy = VPD x wind). IMPORTANT CAVEAT for this whole case study: 2016 is a VALIDATION year (2015-2017 per docs/DATA_SPECIFICATION.md), not a held-out TEST year (2018-2020) -- kept separate from the main 10-event scorecard on purpose, since mixing it in would silently change numbers already quoted elsewhere.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Spatial means over the MTBS fire-perimeter mask, start -&gt; peak -&gt; end, for RH/VPD/WS/FFWI/HDW. THE HEADLINE RESULT of this whole case study: ERA5 interp dramatically overstates how dangerous the peak-spread and containment days were, while DRN and the diffusion ensemble mean track CONUS404 truth closely at all three dates. At peak spread: truth FFWI ~27 vs ERA5 ~46 (~1.7x over). At containment (post-frontal recovery -- truth RH jumps back to ~65%): ERA5's HDW is still ~60 vs truth ~24 (~2.5x over) -- ERA5 alone would have called the containment day nearly as dangerous as the peak-spread day, which is wrong. DRN/ensemble reproduce truth's sharp peak-then-recovery shape in all 5 fields. This is exactly the situation the correction pipeline exists for: a specific, consequential historical fire-weather emergency, not just aggregate stats.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Peak-spread-day FFWI (truth / DRN / ensemble mean) with the actual MTBS burn perimeter overlaid (blue outline). Two perimeter-source checks: NIFC/WFIGS has NO RECORD for this fire -- likely because it was a state/private-rangeland fire (Oklahoma Forestry Services / Kansas Forest Service jurisdiction), and WFIGS's federal IRWIN-sourced history mainly covers BLM/USFS/NPS incidents. MTBS (Landsat-derived, jurisdiction-agnostic) DOES have it: fire_id OK3692409905720160323, 374,226 acres, one assessed perimeter from a post-fire Landsat scene (2016-04-07, after full containment) -- for a grassland fire with no reburn, that single MTBS perimeter is effectively BOTH the final and the maximum extent (no separate daily-growth polygon series available without VIIRS/MODIS hotspot clustering, not attempted). Note the burn scar (~65x45km) is small relative to this 2048km model window -- the regional FFWI hot spot in this crop is actually southwest of the fire itself, so a correct REGIONAL pattern isn't by itself proof the model nails the fire's own micro-scale conditions (see next slide for the zoomed check).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Same data, cropped to the perimeter's bounding box at native 4km resolution -- no GPU rerun needed, just a post-hoc crop of the already-saved prediction array. The actual burn scar shape is clearly resolved, and truth/DRN/ensemble-mean FFWI all show mildly elevated fire-weather index roughly coincident with the perimeter interior.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Sensitivity analysis -- 'plug different methods' outputs into the same downstream model': feed each method's own T2/TD2/wind-speed into the identical fire_fields() VPD/FFWI/HDW formula and compare normalized RMSE (RMSE / truth sigma) at the input stage vs. the derived-index stage, mean over the 3 dates. Numbers (ERA5 interp / DRN / Ens mean): T2 0.39/0.16/0.16, TD2 0.53/0.26/0.27, WS 0.88/0.37/0.40 -&gt; VPD 0.72/0.25/0.24, FFWI 0.86/0.31/0.33, HDW 0.90/0.30/0.32. Key finding: VPD/FFWI/HDW's normalized error tracks WIND SPEED's error (the worst of the three inputs) far more closely than a simple average of T2/TD2/WS errors would predict -- consistent with HDW being a direct product (VPD x WS) and FFWI's strong wind-speed dependence. Practical takeaway: fixing wind-speed error would do more for downstream fire-weather-index accuracy here than fixing temperature error would, for both the baseline (ERA5) and the model (DRN/ensemble).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2.xml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Relationship Id="rId3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Relationship Id="rId3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Relationship Id="rId3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Relationship Id="rId3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E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377440"/>
            <a:ext cx="1072865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4000" b="1">
                <a:solidFill>
                  <a:srgbClr val="FFFFFF"/>
                </a:solidFill>
                <a:latin typeface="Calibri"/>
              </a:defRPr>
            </a:pPr>
            <a:r>
              <a:t>ERA5→CONUS404 Latent CorrDiff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3383280"/>
            <a:ext cx="10728655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>
                <a:solidFill>
                  <a:srgbClr val="9AA5B1"/>
                </a:solidFill>
                <a:latin typeface="Calibri"/>
              </a:defRPr>
            </a:pPr>
            <a:r>
              <a:t>Frequency-domain detail · NVIDIA CorrDiff comparison · Anderson Creek Fire case study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E14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t2_spectrum_detai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28747" y="457200"/>
            <a:ext cx="6934200" cy="59436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E14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t2_spectrum_linear_freq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260289"/>
            <a:ext cx="11277295" cy="4337421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E14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ours_vs_nvidia_corrdiff_rms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565335"/>
            <a:ext cx="11277295" cy="5727328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E14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nvidia_corrdiff_power_spectru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956237"/>
            <a:ext cx="11277295" cy="4945524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E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20040"/>
            <a:ext cx="10728655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 b="1">
                <a:solidFill>
                  <a:srgbClr val="FFFFFF"/>
                </a:solidFill>
                <a:latin typeface="Calibri"/>
              </a:defRPr>
            </a:pPr>
            <a:r>
              <a:t>NVIDIA CorrDiff (official physicsnemo code) — training time, one clean pass</a:t>
            </a:r>
          </a:p>
        </p:txBody>
      </p:sp>
      <p:graphicFrame>
        <p:nvGraphicFramePr>
          <p:cNvPr id="3" name="Chart 2"/>
          <p:cNvGraphicFramePr>
            <a:graphicFrameLocks noGrp="1"/>
          </p:cNvGraphicFramePr>
          <p:nvPr/>
        </p:nvGraphicFramePr>
        <p:xfrm>
          <a:off x="731520" y="1005840"/>
          <a:ext cx="10728655" cy="512064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E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20040"/>
            <a:ext cx="10728655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 b="1">
                <a:solidFill>
                  <a:srgbClr val="FFFFFF"/>
                </a:solidFill>
                <a:latin typeface="Calibri"/>
              </a:defRPr>
            </a:pPr>
            <a:r>
              <a:t>Our latent model (DRN + VAE + Diffusion) — training time, clean path only</a:t>
            </a:r>
          </a:p>
        </p:txBody>
      </p:sp>
      <p:graphicFrame>
        <p:nvGraphicFramePr>
          <p:cNvPr id="3" name="Chart 2"/>
          <p:cNvGraphicFramePr>
            <a:graphicFrameLocks noGrp="1"/>
          </p:cNvGraphicFramePr>
          <p:nvPr/>
        </p:nvGraphicFramePr>
        <p:xfrm>
          <a:off x="731520" y="1005840"/>
          <a:ext cx="10728655" cy="512064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E14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anderson_creek_fire_weather_star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66527" y="457200"/>
            <a:ext cx="7658640" cy="59436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E14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anderson_creek_fire_weather_pea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66527" y="457200"/>
            <a:ext cx="7658640" cy="594360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E14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anderson_creek_fire_weather_en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66527" y="457200"/>
            <a:ext cx="7658640" cy="594360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E14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anderson_creek_timeli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2301270"/>
            <a:ext cx="11277295" cy="2255459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E14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anderson_creek_perimeter_overla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549450"/>
            <a:ext cx="11277295" cy="3759098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E14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anderson_creek_perimeter_overlay_zoo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361495"/>
            <a:ext cx="11277295" cy="4135008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E14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anderson_creek_sensitivit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260289"/>
            <a:ext cx="11277295" cy="4337421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